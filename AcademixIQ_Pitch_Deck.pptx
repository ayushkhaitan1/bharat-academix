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6400" b="1">
                <a:solidFill>
                  <a:srgbClr val="FFFFFF"/>
                </a:solidFill>
                <a:latin typeface="Arial"/>
              </a:defRPr>
            </a:pPr>
            <a:r>
              <a:t>AcademixIQ</a:t>
            </a:r>
          </a:p>
          <a:p>
            <a:pPr>
              <a:spcAft>
                <a:spcPts val="2000"/>
              </a:spcAft>
              <a:defRPr sz="2200">
                <a:solidFill>
                  <a:srgbClr val="10B981"/>
                </a:solidFill>
                <a:latin typeface="Arial"/>
              </a:defRPr>
            </a:pPr>
            <a:r>
              <a:t>AI-Powered Smart Learning Companion &amp; Accessibility Hub</a:t>
            </a:r>
          </a:p>
          <a:p>
            <a:pPr>
              <a:defRPr sz="1600">
                <a:solidFill>
                  <a:srgbClr val="FFFFFF"/>
                </a:solidFill>
                <a:latin typeface="Arial"/>
              </a:defRPr>
            </a:pPr>
            <a:r>
              <a:t>Bharat Academix CodeQuest 2026  |  Round 1: Idea Proposal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5488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0B981"/>
                </a:solidFill>
                <a:latin typeface="Arial"/>
              </a:defRPr>
            </a:pPr>
            <a:r>
              <a:t>Team: ayushkhaitan2004</a:t>
            </a:r>
          </a:p>
          <a:p>
            <a:pPr>
              <a:defRPr sz="1300">
                <a:solidFill>
                  <a:srgbClr val="FFFFFF"/>
                </a:solidFill>
                <a:latin typeface="Arial"/>
              </a:defRPr>
            </a:pPr>
            <a:r>
              <a:t>Solo Innovator: Ayush Khaitan  |  SRMIST Ghaziabad</a:t>
            </a:r>
          </a:p>
          <a:p>
            <a:pPr>
              <a:defRPr sz="1100">
                <a:solidFill>
                  <a:srgbClr val="64748B"/>
                </a:solidFill>
                <a:latin typeface="Arial"/>
              </a:defRPr>
            </a:pPr>
            <a:r>
              <a:t>Themes: EdTech, AI/ML, Accessibility &amp; Inclusion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A192F"/>
                </a:solidFill>
                <a:latin typeface="Arial"/>
              </a:defRPr>
            </a:pPr>
            <a:r>
              <a:t>The Problem Statement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000" b="1">
                <a:solidFill>
                  <a:srgbClr val="0A192F"/>
                </a:solidFill>
                <a:latin typeface="Arial"/>
              </a:defRPr>
            </a:pPr>
            <a:r>
              <a:t>Key Challenges in Indian Education: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A192F"/>
                </a:solidFill>
              </a:rPr>
              <a:t>• Passive Learning Model:</a:t>
            </a:r>
            <a:r>
              <a:rPr sz="1300">
                <a:solidFill>
                  <a:srgbClr val="1E293B"/>
                </a:solidFill>
              </a:rPr>
              <a:t> Traditional systems rely on one-way lectures, leading to poor retention and zero real-time personalized feedback.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A192F"/>
                </a:solidFill>
              </a:rPr>
              <a:t>• Regional Language Barriers:</a:t>
            </a:r>
            <a:r>
              <a:rPr sz="1300">
                <a:solidFill>
                  <a:srgbClr val="1E293B"/>
                </a:solidFill>
              </a:rPr>
              <a:t> 80%+ of higher academic research, papers, and specialized resources are exclusively in English, isolating regional-medium students.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A192F"/>
                </a:solidFill>
              </a:rPr>
              <a:t>• Accessibility Gaps:</a:t>
            </a:r>
            <a:r>
              <a:rPr sz="1300">
                <a:solidFill>
                  <a:srgbClr val="1E293B"/>
                </a:solidFill>
              </a:rPr>
              <a:t> Neurodivergent learners (ADHD, Dyslexia) and visually/hearing-impaired students lack interactive, adaptive support in physical/digital classrooms.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120640" cy="4754880"/>
          </a:xfrm>
          <a:prstGeom prst="round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2000" b="1">
                <a:solidFill>
                  <a:srgbClr val="10B981"/>
                </a:solidFill>
                <a:latin typeface="Arial"/>
              </a:defRPr>
            </a:pPr>
            <a:r>
              <a:t>The Opportunity in Numbers:</a:t>
            </a:r>
          </a:p>
          <a:p>
            <a:pPr>
              <a:spcAft>
                <a:spcPts val="1400"/>
              </a:spcAft>
            </a:pPr>
            <a:r>
              <a:rPr b="1" sz="2400">
                <a:solidFill>
                  <a:srgbClr val="FFFFFF"/>
                </a:solidFill>
              </a:rPr>
              <a:t>250 Million+
</a:t>
            </a:r>
            <a:r>
              <a:rPr sz="1200">
                <a:solidFill>
                  <a:srgbClr val="10B981"/>
                </a:solidFill>
              </a:rPr>
              <a:t>Students enrolled in Indian primary/secondary schools needing tailored education.</a:t>
            </a:r>
          </a:p>
          <a:p>
            <a:pPr>
              <a:spcAft>
                <a:spcPts val="1400"/>
              </a:spcAft>
            </a:pPr>
            <a:r>
              <a:rPr b="1" sz="2400">
                <a:solidFill>
                  <a:srgbClr val="FFFFFF"/>
                </a:solidFill>
              </a:rPr>
              <a:t>&lt; 5%
</a:t>
            </a:r>
            <a:r>
              <a:rPr sz="1200">
                <a:solidFill>
                  <a:srgbClr val="10B981"/>
                </a:solidFill>
              </a:rPr>
              <a:t>Of educational content conforms to international accessibility standards in regional domains.</a:t>
            </a:r>
          </a:p>
          <a:p>
            <a:pPr>
              <a:spcAft>
                <a:spcPts val="1400"/>
              </a:spcAft>
            </a:pPr>
            <a:r>
              <a:rPr b="1" sz="2400">
                <a:solidFill>
                  <a:srgbClr val="FFFFFF"/>
                </a:solidFill>
              </a:rPr>
              <a:t>80%
</a:t>
            </a:r>
            <a:r>
              <a:rPr sz="1200">
                <a:solidFill>
                  <a:srgbClr val="10B981"/>
                </a:solidFill>
              </a:rPr>
              <a:t>Of classroom knowledge loss occurs within 48 hours without active reinforcement.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A192F"/>
                </a:solidFill>
                <a:latin typeface="Arial"/>
              </a:defRPr>
            </a:pPr>
            <a:r>
              <a:t>The Proposed Solution - AcademixIQ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1100">
                <a:solidFill>
                  <a:srgbClr val="059669"/>
                </a:solidFill>
              </a:defRPr>
            </a:pPr>
            <a:r>
              <a:t>Direct Alignment: Education Technology  |  Social Impact &amp; Accessibility  |  AI &amp; Machine Learning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800">
                <a:solidFill>
                  <a:srgbClr val="0A192F"/>
                </a:solidFill>
                <a:latin typeface="Arial"/>
              </a:defRPr>
            </a:pPr>
            <a:r>
              <a:t>BhashaTranslate</a:t>
            </a:r>
          </a:p>
          <a:p>
            <a:pPr>
              <a:defRPr sz="1300">
                <a:solidFill>
                  <a:srgbClr val="1E293B"/>
                </a:solidFill>
                <a:latin typeface="Arial"/>
              </a:defRPr>
            </a:pPr>
            <a:r>
              <a:t>Real-time vernacular lecture transcription, translating English classes to local Indian languages (Hindi, Tamil, etc.) instantly.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12064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4592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800">
                <a:solidFill>
                  <a:srgbClr val="0A192F"/>
                </a:solidFill>
                <a:latin typeface="Arial"/>
              </a:defRPr>
            </a:pPr>
            <a:r>
              <a:t>VisualMind Canvas</a:t>
            </a:r>
          </a:p>
          <a:p>
            <a:pPr>
              <a:defRPr sz="1300">
                <a:solidFill>
                  <a:srgbClr val="1E293B"/>
                </a:solidFill>
                <a:latin typeface="Arial"/>
              </a:defRPr>
            </a:pPr>
            <a:r>
              <a:t>Generates real-time, interactive mind maps and visual flowcharts from lecture audio or PDFs to simplify complex concepts.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40480"/>
            <a:ext cx="512064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233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800">
                <a:solidFill>
                  <a:srgbClr val="0A192F"/>
                </a:solidFill>
                <a:latin typeface="Arial"/>
              </a:defRPr>
            </a:pPr>
            <a:r>
              <a:t>SkillBridge AI</a:t>
            </a:r>
          </a:p>
          <a:p>
            <a:pPr>
              <a:defRPr sz="1300">
                <a:solidFill>
                  <a:srgbClr val="1E293B"/>
                </a:solidFill>
                <a:latin typeface="Arial"/>
              </a:defRPr>
            </a:pPr>
            <a:r>
              <a:t>Contextual, adaptive quiz generation that analyzes user performance to pinpoint concept gaps and customize roadmaps.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840480"/>
            <a:ext cx="512064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0233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800">
                <a:solidFill>
                  <a:srgbClr val="0A192F"/>
                </a:solidFill>
                <a:latin typeface="Arial"/>
              </a:defRPr>
            </a:pPr>
            <a:r>
              <a:t>EduAccess Engine</a:t>
            </a:r>
          </a:p>
          <a:p>
            <a:pPr>
              <a:defRPr sz="1300">
                <a:solidFill>
                  <a:srgbClr val="1E293B"/>
                </a:solidFill>
                <a:latin typeface="Arial"/>
              </a:defRPr>
            </a:pPr>
            <a:r>
              <a:t>High-contrast screen-reader styles, speech-to-text navigation, and simplified content modules for neurodiverse learners.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Interactive Student Dashboard Mockup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 b="1">
                <a:solidFill>
                  <a:srgbClr val="10B981"/>
                </a:solidFill>
                <a:latin typeface="Arial"/>
              </a:defRPr>
            </a:pPr>
            <a:r>
              <a:t>AcademixIQ Student Dashboard: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FFFFFF"/>
                </a:solidFill>
              </a:rPr>
              <a:t>• Glassmorphism UI:</a:t>
            </a:r>
            <a:r>
              <a:rPr sz="1300">
                <a:solidFill>
                  <a:srgbClr val="10B981"/>
                </a:solidFill>
              </a:rPr>
              <a:t> Optimized for focus with a modern dark aesthetics design system.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FFFFFF"/>
                </a:solidFill>
              </a:rPr>
              <a:t>• Visual Mind-Mapping:</a:t>
            </a:r>
            <a:r>
              <a:rPr sz="1300">
                <a:solidFill>
                  <a:srgbClr val="10B981"/>
                </a:solidFill>
              </a:rPr>
              <a:t> Center stage is occupied by interactive node diagrams illustrating the relation between academic topics.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FFFFFF"/>
                </a:solidFill>
              </a:rPr>
              <a:t>• Real-Time Transcripts:</a:t>
            </a:r>
            <a:r>
              <a:rPr sz="1300">
                <a:solidFill>
                  <a:srgbClr val="10B981"/>
                </a:solidFill>
              </a:rPr>
              <a:t> Left/right panels stream live translations, enabling students to switch languages dynamically.</a:t>
            </a:r>
          </a:p>
        </p:txBody>
      </p:sp>
      <p:pic>
        <p:nvPicPr>
          <p:cNvPr id="6" name="Picture 5" descr="mockup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463040"/>
            <a:ext cx="5943600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A192F"/>
                </a:solidFill>
                <a:latin typeface="Arial"/>
              </a:defRPr>
            </a:pPr>
            <a:r>
              <a:t>System Architecture &amp; Processing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92608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5603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b="1" sz="1600">
                <a:solidFill>
                  <a:srgbClr val="0A192F"/>
                </a:solidFill>
              </a:defRPr>
            </a:pPr>
            <a:r>
              <a:t>1. INGESTION LAYER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Live Classroom Audio Feed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PDFs &amp; Textbook Scans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Youtube Lecture URLs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WebRTC Voice Commands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Peer Tutors Inputs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840480" y="3474720"/>
            <a:ext cx="640080" cy="365760"/>
          </a:xfrm>
          <a:prstGeom prst="rightArrow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663440" y="1645920"/>
            <a:ext cx="2926080" cy="4114800"/>
          </a:xfrm>
          <a:prstGeom prst="round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1828800"/>
            <a:ext cx="25603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b="1" sz="1600">
                <a:solidFill>
                  <a:srgbClr val="10B981"/>
                </a:solidFill>
              </a:defRPr>
            </a:pPr>
            <a:r>
              <a:t>2. CORE AI PIPELINE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</a:defRPr>
            </a:pPr>
            <a:r>
              <a:t>• Web Speech API (SpeechRecognition)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</a:defRPr>
            </a:pPr>
            <a:r>
              <a:t>• Google Gemini 2.5 Flash SDK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</a:defRPr>
            </a:pPr>
            <a:r>
              <a:t>• Dynamic Node Expansion logic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</a:defRPr>
            </a:pPr>
            <a:r>
              <a:t>• Web Speech API (SpeechSynthesis TTS)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</a:defRPr>
            </a:pPr>
            <a:r>
              <a:t>• Express Node.js Backend Server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772400" y="3474720"/>
            <a:ext cx="640080" cy="365760"/>
          </a:xfrm>
          <a:prstGeom prst="rightArrow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595360" y="1645920"/>
            <a:ext cx="283464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0" y="1828800"/>
            <a:ext cx="24688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b="1" sz="1600">
                <a:solidFill>
                  <a:srgbClr val="0A192F"/>
                </a:solidFill>
              </a:defRPr>
            </a:pPr>
            <a:r>
              <a:t>3. PRESENTATION LAYER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Interactive Canvas Nodes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Adaptive Study Cards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Real-Time Audio Player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Screen-Reader DOM Layout</a:t>
            </a:r>
          </a:p>
          <a:p>
            <a:pPr>
              <a:spcAft>
                <a:spcPts val="1000"/>
              </a:spcAft>
              <a:defRPr sz="1300">
                <a:solidFill>
                  <a:srgbClr val="1E293B"/>
                </a:solidFill>
              </a:defRPr>
            </a:pPr>
            <a:r>
              <a:t>• Peer-to-Peer Rewards Hub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A192F"/>
                </a:solidFill>
                <a:latin typeface="Arial"/>
              </a:defRPr>
            </a:pPr>
            <a:r>
              <a:t>The Scalable Technology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600">
                <a:solidFill>
                  <a:srgbClr val="0A192F"/>
                </a:solidFill>
                <a:latin typeface="Arial"/>
              </a:defRPr>
            </a:pPr>
            <a:r>
              <a:t>FRONTEND (REACT)</a:t>
            </a:r>
          </a:p>
          <a:p>
            <a:pPr>
              <a:spcAft>
                <a:spcPts val="1400"/>
              </a:spcAft>
              <a:defRPr i="1" sz="1100">
                <a:solidFill>
                  <a:srgbClr val="64748B"/>
                </a:solidFill>
                <a:latin typeface="Arial"/>
              </a:defRPr>
            </a:pPr>
            <a:r>
              <a:t>Highly accessible, interactive user interface.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React.js &amp; TypeScript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Tailwind CSS (Glassmorphism)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HTML5 Canvas (VisualMind Graph)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Web Speech API (STT Transcription)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Web Speech API (TTS Vocalizer)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1645920"/>
            <a:ext cx="32918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82880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600">
                <a:solidFill>
                  <a:srgbClr val="0A192F"/>
                </a:solidFill>
                <a:latin typeface="Arial"/>
              </a:defRPr>
            </a:pPr>
            <a:r>
              <a:t>BACKEND &amp; AI</a:t>
            </a:r>
          </a:p>
          <a:p>
            <a:pPr>
              <a:spcAft>
                <a:spcPts val="1400"/>
              </a:spcAft>
              <a:defRPr i="1" sz="1100">
                <a:solidFill>
                  <a:srgbClr val="64748B"/>
                </a:solidFill>
                <a:latin typeface="Arial"/>
              </a:defRPr>
            </a:pPr>
            <a:r>
              <a:t>Express middleware and Gemini LLM integrations.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Node.js &amp; Express.js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Google Gemini 2.5 Flash SDK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Multer File Ingestor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Dynamic Quiz Generator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Dynamic Translation endpoints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645920"/>
            <a:ext cx="32918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82880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600">
                <a:solidFill>
                  <a:srgbClr val="0A192F"/>
                </a:solidFill>
                <a:latin typeface="Arial"/>
              </a:defRPr>
            </a:pPr>
            <a:r>
              <a:t>UTILITIES &amp; DEPLOY</a:t>
            </a:r>
          </a:p>
          <a:p>
            <a:pPr>
              <a:spcAft>
                <a:spcPts val="1400"/>
              </a:spcAft>
              <a:defRPr i="1" sz="1100">
                <a:solidFill>
                  <a:srgbClr val="64748B"/>
                </a:solidFill>
                <a:latin typeface="Arial"/>
              </a:defRPr>
            </a:pPr>
            <a:r>
              <a:t>Staging, documentation, and cloud execution.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reportlab (PDF Compiler)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python-pptx (Deck Generator)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Git &amp; GitHub Version Control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Render Cloud Web Services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Unified MERN static delivery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A192F"/>
                </a:solidFill>
                <a:latin typeface="Arial"/>
              </a:defRPr>
            </a:pPr>
            <a:r>
              <a:t>EduAccess &amp; Social Impact</a:t>
            </a:r>
          </a:p>
        </p:txBody>
      </p:sp>
      <p:pic>
        <p:nvPicPr>
          <p:cNvPr id="5" name="Picture 4" descr="mockup_accessi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120640" cy="43891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217920" y="1463040"/>
            <a:ext cx="52120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64592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 b="1">
                <a:solidFill>
                  <a:srgbClr val="0A192F"/>
                </a:solidFill>
                <a:latin typeface="Arial"/>
              </a:defRPr>
            </a:pPr>
            <a:r>
              <a:t>Designing for Universal Inclusion: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59669"/>
                </a:solidFill>
              </a:rPr>
              <a:t>• Voice Control Integration:</a:t>
            </a:r>
            <a:r>
              <a:rPr sz="1300">
                <a:solidFill>
                  <a:srgbClr val="1E293B"/>
                </a:solidFill>
              </a:rPr>
              <a:t> Screen-free interaction models allowing visually impaired students to dictate notes, navigate screens, and search topic nodes using spoken queries.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59669"/>
                </a:solidFill>
              </a:rPr>
              <a:t>• Neurodiverse Mode:</a:t>
            </a:r>
            <a:r>
              <a:rPr sz="1300">
                <a:solidFill>
                  <a:srgbClr val="1E293B"/>
                </a:solidFill>
              </a:rPr>
              <a:t> Auto-simplifies dense jargon into structured, high-contrast summaries with minimized distraction elements.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59669"/>
                </a:solidFill>
              </a:rPr>
              <a:t>• Expected Impact:</a:t>
            </a:r>
            <a:r>
              <a:rPr sz="1300">
                <a:solidFill>
                  <a:srgbClr val="1E293B"/>
                </a:solidFill>
              </a:rPr>
              <a:t> Bridges language-medium gaps for up to 10M+ Indian students annually; reduces prep time for exam prep by 40%; provides a democratic level playing field for diverse abilities.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Development Roadmap &amp; Milestones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200400"/>
            <a:ext cx="9144000" cy="73152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468880" cy="4114800"/>
          </a:xfrm>
          <a:prstGeom prst="roundRect">
            <a:avLst/>
          </a:prstGeom>
          <a:solidFill>
            <a:srgbClr val="172A4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22860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800">
                <a:solidFill>
                  <a:srgbClr val="10B981"/>
                </a:solidFill>
              </a:defRPr>
            </a:pPr>
            <a:r>
              <a:t>ROUND 1</a:t>
            </a:r>
          </a:p>
          <a:p>
            <a:pPr>
              <a:spcAft>
                <a:spcPts val="1500"/>
              </a:spcAft>
              <a:defRPr i="1" sz="1200">
                <a:solidFill>
                  <a:srgbClr val="FFFFFF"/>
                </a:solidFill>
              </a:defRPr>
            </a:pPr>
            <a:r>
              <a:t>June 17 - 18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Problem Statement identification</a:t>
            </a:r>
            <a:br/>
            <a:r>
              <a:t>• Idea formulation &amp; PPTX deck</a:t>
            </a:r>
            <a:br/>
            <a:r>
              <a:t>• Concept validation</a:t>
            </a:r>
            <a:br/>
            <a:r>
              <a:t>• Proposal Submission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645920"/>
            <a:ext cx="2468880" cy="4114800"/>
          </a:xfrm>
          <a:prstGeom prst="roundRect">
            <a:avLst/>
          </a:prstGeom>
          <a:solidFill>
            <a:srgbClr val="172A4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828800"/>
            <a:ext cx="22860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800">
                <a:solidFill>
                  <a:srgbClr val="10B981"/>
                </a:solidFill>
              </a:defRPr>
            </a:pPr>
            <a:r>
              <a:t>ROUND 2</a:t>
            </a:r>
          </a:p>
          <a:p>
            <a:pPr>
              <a:spcAft>
                <a:spcPts val="1500"/>
              </a:spcAft>
              <a:defRPr i="1" sz="1200">
                <a:solidFill>
                  <a:srgbClr val="FFFFFF"/>
                </a:solidFill>
              </a:defRPr>
            </a:pPr>
            <a:r>
              <a:t>June 20 - 22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Express/Node backend config</a:t>
            </a:r>
            <a:br/>
            <a:r>
              <a:t>• Whisper &amp; Gemini integrations</a:t>
            </a:r>
            <a:br/>
            <a:r>
              <a:t>• Interactive canvas UI prototype</a:t>
            </a:r>
            <a:br/>
            <a:r>
              <a:t>• Source code &amp; Video submission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2468880" cy="4114800"/>
          </a:xfrm>
          <a:prstGeom prst="roundRect">
            <a:avLst/>
          </a:prstGeom>
          <a:solidFill>
            <a:srgbClr val="172A4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828800"/>
            <a:ext cx="22860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800">
                <a:solidFill>
                  <a:srgbClr val="10B981"/>
                </a:solidFill>
              </a:defRPr>
            </a:pPr>
            <a:r>
              <a:t>PHASE 3</a:t>
            </a:r>
          </a:p>
          <a:p>
            <a:pPr>
              <a:spcAft>
                <a:spcPts val="1500"/>
              </a:spcAft>
              <a:defRPr i="1" sz="1200">
                <a:solidFill>
                  <a:srgbClr val="FFFFFF"/>
                </a:solidFill>
              </a:defRPr>
            </a:pPr>
            <a:r>
              <a:t>June 23 - 26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Pilot testing &amp; bug fixes</a:t>
            </a:r>
            <a:br/>
            <a:r>
              <a:t>• Real-time socket connections</a:t>
            </a:r>
            <a:br/>
            <a:r>
              <a:t>• Demo polishing &amp; presentation compilation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1645920"/>
            <a:ext cx="2468880" cy="4114800"/>
          </a:xfrm>
          <a:prstGeom prst="roundRect">
            <a:avLst/>
          </a:prstGeom>
          <a:solidFill>
            <a:srgbClr val="172A4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0" y="1828800"/>
            <a:ext cx="22860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800">
                <a:solidFill>
                  <a:srgbClr val="10B981"/>
                </a:solidFill>
              </a:defRPr>
            </a:pPr>
            <a:r>
              <a:t>GRAND FINALE</a:t>
            </a:r>
          </a:p>
          <a:p>
            <a:pPr>
              <a:spcAft>
                <a:spcPts val="1500"/>
              </a:spcAft>
              <a:defRPr i="1" sz="1200">
                <a:solidFill>
                  <a:srgbClr val="FFFFFF"/>
                </a:solidFill>
              </a:defRPr>
            </a:pPr>
            <a:r>
              <a:t>June 27 - 28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Deployment of final MERN app</a:t>
            </a:r>
            <a:br/>
            <a:r>
              <a:t>• Pitch presentation to expert jury</a:t>
            </a:r>
            <a:br/>
            <a:r>
              <a:t>• Q&amp;A &amp; Design defense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64748B"/>
                </a:solidFill>
              </a:defRPr>
            </a:pPr>
            <a:r>
              <a:t>Bharat Academix CodeQuest 2026  |  Empowering academic excellence through modern, accessible AI systems.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