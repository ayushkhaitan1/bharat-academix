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6400" b="1">
                <a:solidFill>
                  <a:srgbClr val="FFFFFF"/>
                </a:solidFill>
                <a:latin typeface="Arial"/>
              </a:defRPr>
            </a:pPr>
            <a:r>
              <a:t>AcademixIQ</a:t>
            </a:r>
          </a:p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Arial"/>
              </a:defRPr>
            </a:pPr>
            <a:r>
              <a:t>Multi-Modal AI Classroom Accessibility Platform</a:t>
            </a:r>
          </a:p>
          <a:p>
            <a:pPr>
              <a:defRPr sz="1600">
                <a:solidFill>
                  <a:srgbClr val="FFFFFF"/>
                </a:solidFill>
                <a:latin typeface="Arial"/>
              </a:defRPr>
            </a:pPr>
            <a:r>
              <a:t>Democratizing Academic Content through Adaptive Visualizations, Regional Translations, &amp; Mastery Diagnostic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0B981"/>
                </a:solidFill>
                <a:latin typeface="Arial"/>
              </a:defRPr>
            </a:pPr>
            <a:r>
              <a:t>Team ID: ayushkhaitan2004</a:t>
            </a:r>
          </a:p>
          <a:p>
            <a:pPr>
              <a:defRPr sz="1300">
                <a:solidFill>
                  <a:srgbClr val="FFFFFF"/>
                </a:solidFill>
                <a:latin typeface="Arial"/>
              </a:defRPr>
            </a:pPr>
            <a:r>
              <a:t>Solo Innovator: Ayush Khaitan  |  SRMIST Ghaziabad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Bharat Academix CodeQuest 2026  |  Final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192F"/>
                </a:solidFill>
                <a:latin typeface="Arial"/>
              </a:defRPr>
            </a:pPr>
            <a:r>
              <a:t>The Problem Statement in Indian Classrooms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0A192F"/>
                </a:solidFill>
                <a:latin typeface="Arial"/>
              </a:defRPr>
            </a:pPr>
            <a:r>
              <a:t>Core Accessibility Barriers: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Linguistic Exclusion: </a:t>
            </a:r>
            <a:r>
              <a:rPr sz="1300">
                <a:solidFill>
                  <a:srgbClr val="1E293B"/>
                </a:solidFill>
              </a:rPr>
              <a:t> Over 80% of digital academic literature is in English. Vernacular medium students fall behind due to language comprehension gaps.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Cognitive Strain: </a:t>
            </a:r>
            <a:r>
              <a:rPr sz="1300">
                <a:solidFill>
                  <a:srgbClr val="1E293B"/>
                </a:solidFill>
              </a:rPr>
              <a:t> Students with learning profiles like ADHD or Dyslexia face severe text fatigue when presented with long, unstructured slides or textbook chapters.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Diagnostic Mastery Gaps: </a:t>
            </a:r>
            <a:r>
              <a:rPr sz="1300">
                <a:solidFill>
                  <a:srgbClr val="1E293B"/>
                </a:solidFill>
              </a:rPr>
              <a:t> Standard classrooms evaluate retrospectively. There is no real-time diagnostic pipeline to map exactly which subconcept a student struggles to master.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The Scale of Impact:</a:t>
            </a:r>
          </a:p>
          <a:p>
            <a:pPr>
              <a:spcAft>
                <a:spcPts val="1400"/>
              </a:spcAft>
            </a:pPr>
            <a:r>
              <a:rPr b="1" sz="2200">
                <a:solidFill>
                  <a:srgbClr val="FFFFFF"/>
                </a:solidFill>
              </a:rPr>
              <a:t>10M+ Students
</a:t>
            </a:r>
            <a:r>
              <a:rPr sz="1200">
                <a:solidFill>
                  <a:srgbClr val="10B981"/>
                </a:solidFill>
              </a:rPr>
              <a:t>Studying in regional language mediums face technical language gaps annually.</a:t>
            </a:r>
          </a:p>
          <a:p>
            <a:pPr>
              <a:spcAft>
                <a:spcPts val="1400"/>
              </a:spcAft>
            </a:pPr>
            <a:r>
              <a:rPr b="1" sz="2200">
                <a:solidFill>
                  <a:srgbClr val="FFFFFF"/>
                </a:solidFill>
              </a:rPr>
              <a:t>&lt; 5% of EdTech
</a:t>
            </a:r>
            <a:r>
              <a:rPr sz="1200">
                <a:solidFill>
                  <a:srgbClr val="10B981"/>
                </a:solidFill>
              </a:rPr>
              <a:t>Provides customizable typographic or visual focus tools for neurodiverse students.</a:t>
            </a:r>
          </a:p>
          <a:p>
            <a:pPr>
              <a:spcAft>
                <a:spcPts val="1400"/>
              </a:spcAft>
            </a:pPr>
            <a:r>
              <a:rPr b="1" sz="2200">
                <a:solidFill>
                  <a:srgbClr val="FFFFFF"/>
                </a:solidFill>
              </a:rPr>
              <a:t>48 Hours
</a:t>
            </a:r>
            <a:r>
              <a:rPr sz="1200">
                <a:solidFill>
                  <a:srgbClr val="10B981"/>
                </a:solidFill>
              </a:rPr>
              <a:t>Is the typical timeline where a student forgets 80% of unstructured text-based lessons.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192F"/>
                </a:solidFill>
                <a:latin typeface="Arial"/>
              </a:defRPr>
            </a:pPr>
            <a:r>
              <a:t>AcademixIQ: The Four Multi-Modal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0A192F"/>
                </a:solidFill>
                <a:latin typeface="Arial"/>
              </a:defRPr>
            </a:pPr>
            <a:r>
              <a:t>VisualMind Canvas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Transforms complex technical documents or text notes into interactive, 3D conceptual mind maps. Features dynamic node expansion powered by Gemini 2.5 Flash.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0A192F"/>
                </a:solidFill>
                <a:latin typeface="Arial"/>
              </a:defRPr>
            </a:pPr>
            <a:r>
              <a:t>BhashaTranslate Live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Captures classroom voice audio via browser microphone. Translates English lessons into 6 major regional Indian scripts (Hindi, Tamil, etc.) with synchronized TTS.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0A192F"/>
                </a:solidFill>
                <a:latin typeface="Arial"/>
              </a:defRPr>
            </a:pPr>
            <a:r>
              <a:t>SkillBridge Evaluation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Contextual MCQ assessments mapped directly onto concept nodes. Identifies gaps, updates node colors (Mastered/Gap), and compiles customized study checklists.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0A192F"/>
                </a:solidFill>
                <a:latin typeface="Arial"/>
              </a:defRPr>
            </a:pPr>
            <a:r>
              <a:t>EduAccess Engine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Accessibility settings offering OpenDyslexic fonts, mouse-guided focus rulers for ADHD, SVG colorblindness filters, and hands-free voice command navigation.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192F"/>
                </a:solidFill>
                <a:latin typeface="Arial"/>
              </a:defRPr>
            </a:pPr>
            <a:r>
              <a:t>VisualMind: Interactive Concept Mapping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5720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0A192F"/>
                </a:solidFill>
                <a:latin typeface="Arial"/>
              </a:defRPr>
            </a:pPr>
            <a:r>
              <a:t>Conceptual Graph Modeling: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Structured Graphing: </a:t>
            </a:r>
            <a:r>
              <a:rPr sz="1300">
                <a:solidFill>
                  <a:srgbClr val="1E293B"/>
                </a:solidFill>
              </a:rPr>
              <a:t> Breaks arbitrary academic topics into Root, Subtopic, and Detail nodes on an interactive HTML5 canvas.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Self-Paced Navigation: </a:t>
            </a:r>
            <a:r>
              <a:rPr sz="1300">
                <a:solidFill>
                  <a:srgbClr val="1E293B"/>
                </a:solidFill>
              </a:rPr>
              <a:t> Selecting a node displays summaries, flashcards, and conceptual study questions inside a sliding drawer panel.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Dynamic Node Expansion: </a:t>
            </a:r>
            <a:r>
              <a:rPr sz="1300">
                <a:solidFill>
                  <a:srgbClr val="1E293B"/>
                </a:solidFill>
              </a:rPr>
              <a:t> Students double-click subtopics to prompt Gemini to generate and branch out further detail nodes on the fly.</a:t>
            </a:r>
          </a:p>
        </p:txBody>
      </p:sp>
      <p:pic>
        <p:nvPicPr>
          <p:cNvPr id="7" name="Picture 6" descr="mocku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5852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192F"/>
                </a:solidFill>
                <a:latin typeface="Arial"/>
              </a:defRPr>
            </a:pPr>
            <a:r>
              <a:t>BhashaTranslate: Regional Language Hub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0A192F"/>
                </a:solidFill>
                <a:latin typeface="Arial"/>
              </a:defRPr>
            </a:pPr>
            <a:r>
              <a:t>Classroom Audio Translation: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Live Vernacular Script Output: </a:t>
            </a:r>
            <a:r>
              <a:rPr sz="1300">
                <a:solidFill>
                  <a:srgbClr val="1E293B"/>
                </a:solidFill>
              </a:rPr>
              <a:t> Captures English lecture audio and instantly translates it into standard regional scripts (Devanagari, Tamil, etc.), rather than phonetic English letters.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SpeechSynthesis (TTS) Vocalizer: </a:t>
            </a:r>
            <a:r>
              <a:rPr sz="1300">
                <a:solidFill>
                  <a:srgbClr val="1E293B"/>
                </a:solidFill>
              </a:rPr>
              <a:t> Integrates system regional voices (Hindi, Tamil, Kannada, Telugu, Bengali, Marathi) to speak translations aloud with local accent profiles.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Asynchronous Voice Loading: </a:t>
            </a:r>
            <a:r>
              <a:rPr sz="1300">
                <a:solidFill>
                  <a:srgbClr val="1E293B"/>
                </a:solidFill>
              </a:rPr>
              <a:t> Subscribes to browser voice-change triggers to prevent silent audio execution on page startup.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High-Fidelity Sandbox Mockups: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FFFFFF"/>
                </a:solidFill>
              </a:rPr>
              <a:t>Photosynthesis Lesson Module
</a:t>
            </a:r>
            <a:r>
              <a:rPr sz="1200">
                <a:solidFill>
                  <a:srgbClr val="10B981"/>
                </a:solidFill>
              </a:rPr>
              <a:t>Full 5-page text stream translating scientific processes like Calvin Cycle and RuBisCO into actual Indian scripts.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FFFFFF"/>
                </a:solidFill>
              </a:rPr>
              <a:t>Quantum Computing Module
</a:t>
            </a:r>
            <a:r>
              <a:rPr sz="1200">
                <a:solidFill>
                  <a:srgbClr val="10B981"/>
                </a:solidFill>
              </a:rPr>
              <a:t>Superposition and Shor's Algorithm explanations in native script templates.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FFFFFF"/>
                </a:solidFill>
              </a:rPr>
              <a:t>Neural Network Module
</a:t>
            </a:r>
            <a:r>
              <a:rPr sz="1200">
                <a:solidFill>
                  <a:srgbClr val="10B981"/>
                </a:solidFill>
              </a:rPr>
              <a:t>Backpropagation and Convolutional edge detections mapped into regional vernaculars.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192F"/>
                </a:solidFill>
                <a:latin typeface="Arial"/>
              </a:defRPr>
            </a:pPr>
            <a:r>
              <a:t>SkillBridge: Dynamic Mastery Diagnostics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0A192F"/>
                </a:solidFill>
                <a:latin typeface="Arial"/>
              </a:defRPr>
            </a:pPr>
            <a:r>
              <a:t>Evaluation &amp; Feedback Loop: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Adaptive Quiz Generation: </a:t>
            </a:r>
            <a:r>
              <a:rPr sz="1300">
                <a:solidFill>
                  <a:srgbClr val="1E293B"/>
                </a:solidFill>
              </a:rPr>
              <a:t> Automatically extracts key concepts from Gemini JSON structures to test memory, recall, and application.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Real-Time Mastery Mapping: </a:t>
            </a:r>
            <a:r>
              <a:rPr sz="1300">
                <a:solidFill>
                  <a:srgbClr val="1E293B"/>
                </a:solidFill>
              </a:rPr>
              <a:t> Missed questions are linked to specific node labels. The canvas updates node gap status automatically.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Mastery Color Coding: </a:t>
            </a:r>
            <a:r>
              <a:rPr sz="1300">
                <a:solidFill>
                  <a:srgbClr val="1E293B"/>
                </a:solidFill>
              </a:rPr>
              <a:t> Mastered nodes turn green (Mastery); weak nodes turn orange (Mastery Gap) to direct student focus.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Mastery Output Features: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FFFFFF"/>
                </a:solidFill>
              </a:rPr>
              <a:t>SVG Concept Mastery Chart
</a:t>
            </a:r>
            <a:r>
              <a:rPr sz="1200">
                <a:solidFill>
                  <a:srgbClr val="10B981"/>
                </a:solidFill>
              </a:rPr>
              <a:t>Renders dynamic visual bar charts tracking core subconcepts and percentage scores automatically.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FFFFFF"/>
                </a:solidFill>
              </a:rPr>
              <a:t>Adaptive Study Checklist
</a:t>
            </a:r>
            <a:r>
              <a:rPr sz="1200">
                <a:solidFill>
                  <a:srgbClr val="10B981"/>
                </a:solidFill>
              </a:rPr>
              <a:t>Builds a checklist of missed nodes (e.g. 'Review Calvin Cycle' or 'Examine thylakoid'), giving students targeted study instructions.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192F"/>
                </a:solidFill>
                <a:latin typeface="Arial"/>
              </a:defRPr>
            </a:pPr>
            <a:r>
              <a:t>EduAccess: Inclusivity &amp; Accessibility Panel</a:t>
            </a:r>
          </a:p>
        </p:txBody>
      </p:sp>
      <p:pic>
        <p:nvPicPr>
          <p:cNvPr id="5" name="Picture 4" descr="mockup_acces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57200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371600"/>
            <a:ext cx="57607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55448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A192F"/>
                </a:solidFill>
                <a:latin typeface="Arial"/>
              </a:defRPr>
            </a:pPr>
            <a:r>
              <a:t>Accessibility Enhancements: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A192F"/>
                </a:solidFill>
              </a:rPr>
              <a:t>• Dyslexia Font Mode: </a:t>
            </a:r>
            <a:r>
              <a:rPr sz="1300">
                <a:solidFill>
                  <a:srgbClr val="1E293B"/>
                </a:solidFill>
              </a:rPr>
              <a:t> Switches styles to OpenDyslexic character spacing with heavier bottom weights, decreasing letter confusion.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A192F"/>
                </a:solidFill>
              </a:rPr>
              <a:t>• ADHD Focus Ruler: </a:t>
            </a:r>
            <a:r>
              <a:rPr sz="1300">
                <a:solidFill>
                  <a:srgbClr val="1E293B"/>
                </a:solidFill>
              </a:rPr>
              <a:t> Darkens screen segments and renders a horizontal highlighting ruler following the mouse cursor to boost concentration.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A192F"/>
                </a:solidFill>
              </a:rPr>
              <a:t>• Contrast &amp; Color Blind Filters: </a:t>
            </a:r>
            <a:r>
              <a:rPr sz="1300">
                <a:solidFill>
                  <a:srgbClr val="1E293B"/>
                </a:solidFill>
              </a:rPr>
              <a:t> Injects real-time SVG matrix color filters (Protanopia, Deuteranopia, Tritanopia) directly into the DOM.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A192F"/>
                </a:solidFill>
              </a:rPr>
              <a:t>• Voice Command Navigation: </a:t>
            </a:r>
            <a:r>
              <a:rPr sz="1300">
                <a:solidFill>
                  <a:srgbClr val="1E293B"/>
                </a:solidFill>
              </a:rPr>
              <a:t> Captures commands like 'open quiz', 'explain superposition' to control the interface hands-free.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192F"/>
                </a:solidFill>
                <a:latin typeface="Arial"/>
              </a:defRPr>
            </a:pPr>
            <a:r>
              <a:t>System Architecture &amp; Scalability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500">
                <a:solidFill>
                  <a:srgbClr val="0A192F"/>
                </a:solidFill>
              </a:defRPr>
            </a:pPr>
            <a:r>
              <a:t>1. INGESTION LAYER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HTML5 Audio Microphone Input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PDF/TXT Study Notes uploads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SpeechRecognition voice command capture (native browser API)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Stored environment API keys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500">
                <a:solidFill>
                  <a:srgbClr val="10B981"/>
                </a:solidFill>
              </a:defRPr>
            </a:pPr>
            <a:r>
              <a:t>2. AI ORCHESTRATION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Node.js &amp; Express.js server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Google Generative AI v1beta SDK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Gemini 2.5 Flash model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Custom prompts extracting structured JSON graphs &amp; MCQ datasets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Keyword-based Mock Sandbox routers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500">
                <a:solidFill>
                  <a:srgbClr val="0A192F"/>
                </a:solidFill>
              </a:defRPr>
            </a:pPr>
            <a:r>
              <a:t>3. 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React dynamic canvas canvas nodes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Dynamic color state variables mapping mastery metrics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Asynchronous voice loader triggering SpeechSynthesis (TTS)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Inline SVG color matrix filters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